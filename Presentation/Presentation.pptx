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982D2-79D9-4AE8-B2D6-24D6A7C353A0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16C21-FF45-4AC0-BE86-240A183489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37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16C21-FF45-4AC0-BE86-240A1834891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57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C0C04-5742-2ACC-672D-80DE2E17C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80C37-3911-6480-9F6A-FCDE7876F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E292B-278F-0944-B926-C10FE4262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86176-4EF7-4DE3-81E3-405C47568C37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E3D01-144D-337B-2267-F0C43EBD6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08E02-D2EC-8CB6-C814-DA6AEFE0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82D-43EF-4978-912C-5E4D70879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271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7BD8B-9A15-389B-F601-1EBA9155A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2BF3D-8D6E-BBD9-3B7D-196F62522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B9E5F-CDEC-2DAA-737F-8E4B149F5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86176-4EF7-4DE3-81E3-405C47568C37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F1668-BB1C-1C8D-50F4-B1AEA5766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ED989-B7A3-5745-472C-1235CA31A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82D-43EF-4978-912C-5E4D70879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1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D52B-774C-FF9B-BD31-8AC465B4E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F195B-B76C-87CD-4F68-EBB2F2982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68157-9D85-D28D-A443-84E3E9C93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86176-4EF7-4DE3-81E3-405C47568C37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60193-2F54-F331-4FB6-7ED0917A9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C5917-5668-95F1-95EA-60379F52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82D-43EF-4978-912C-5E4D70879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87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ABA1-5DD2-C848-20ED-E1AC3A815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0CF12-F2D6-E842-A6B3-3D806FF32D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B15ED-F9B9-9ACC-F843-199755BEE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D66D1-1D0F-F0DA-C37F-814921D84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86176-4EF7-4DE3-81E3-405C47568C37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8CB2B-D891-AA09-D118-162B354F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8ED1A-01B9-E375-594E-F59822C3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82D-43EF-4978-912C-5E4D70879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18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42ADC-0A5A-B941-9161-BA7A48355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9BA9B-F79C-13F4-0E24-6D3CFFB37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CC586-39C2-D2D6-7FFA-A564BD1AE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4D5E75-F56B-6C20-AE4D-05F1F9769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55269-BCF3-E2C3-E81B-82528ACDD5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9A88C-038B-F17A-9CB5-AE85DBAFB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86176-4EF7-4DE3-81E3-405C47568C37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4AF1BE-28B9-1D16-D933-5D293E4AA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DCC76-C44B-857C-F250-2D8B68C9F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82D-43EF-4978-912C-5E4D70879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12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D35A7-83C2-5989-72B1-5663B581D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AF0666-6762-F110-B8E9-1ABF2C1FB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86176-4EF7-4DE3-81E3-405C47568C37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A94297-D6FC-333B-1032-D6BD75F25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1EADB-FE48-439C-504F-3363A7AC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82D-43EF-4978-912C-5E4D70879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654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BF65BD-F975-48F3-89A4-FD16B34C6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86176-4EF7-4DE3-81E3-405C47568C37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1179B-CD67-D337-F372-A1A79B17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647F7-BA35-32A5-F65F-8638257D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82D-43EF-4978-912C-5E4D70879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620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108A2-A8F4-8113-0AFE-0C3B2BA4F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24D2B-3906-D2ED-346F-44CA67ECB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06E58-D677-77AF-F65D-FCC0DBD83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F839E-520E-D31B-D764-4B7278307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86176-4EF7-4DE3-81E3-405C47568C37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39991-590E-40DB-E75E-DC1F1600E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F02E-6531-16C9-8305-3631A7961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82D-43EF-4978-912C-5E4D70879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294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E271-FEC1-B9A5-941B-7E330F51B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107A14-939C-BCB5-D017-FC0C506A7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0C9FC-31C7-CCED-025A-004C621F7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71EDA-06F1-DF7B-B068-EE4152F47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86176-4EF7-4DE3-81E3-405C47568C37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864F4-4E57-D1CE-78AC-4AC8F3473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0657E-B108-8106-0D91-E8D36BF3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82D-43EF-4978-912C-5E4D70879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078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A4DA-77C6-FBCC-EFEF-3201EAB15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F2FE6-310E-3E1B-25C1-E55B6D758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4F13D-44F3-C8BC-1B65-B76270862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86176-4EF7-4DE3-81E3-405C47568C37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CC05A-B47E-9E00-7225-6EF1F2EB1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6E02B-F6A9-54C5-77BF-51F766A0C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82D-43EF-4978-912C-5E4D70879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683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DCA3D8-6815-37D8-B5B0-2D8E3D288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103D40-4ED1-983F-1C4B-235959FC4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8FE07-3A66-2EC4-5E20-D0782E932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86176-4EF7-4DE3-81E3-405C47568C37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9BF26-93E5-9B25-BA69-990BC03C6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4D5F4-5171-C6E8-6EAE-EDB1D146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BC82D-43EF-4978-912C-5E4D70879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193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617F48-0BA7-A181-91CF-4234E73E0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5FA7C-C9E8-4771-FFA2-C752F5E2F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E50D7-0950-696B-9478-F795FB3FF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86176-4EF7-4DE3-81E3-405C47568C37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73518-6996-3046-05ED-C91E7D7C8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FFDD3-92D2-A269-FF15-51550C1D7A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BC82D-43EF-4978-912C-5E4D70879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762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7B0B6-AB3C-7684-B3EE-7317D47296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51AC7-08E0-AC0A-330A-10F1A3ADC3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6D9B1-BEF9-9FCC-C505-CE3319422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92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F48126-963A-383D-822B-48B862D98E72}"/>
              </a:ext>
            </a:extLst>
          </p:cNvPr>
          <p:cNvSpPr txBox="1"/>
          <p:nvPr/>
        </p:nvSpPr>
        <p:spPr>
          <a:xfrm>
            <a:off x="5577840" y="800537"/>
            <a:ext cx="6197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i="1" dirty="0">
                <a:solidFill>
                  <a:schemeClr val="bg1"/>
                </a:solidFill>
              </a:rPr>
              <a:t>Books Sales &amp; Ratings Analysis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2A3EE9-A294-03C9-A0B1-257DF4BD1C6E}"/>
              </a:ext>
            </a:extLst>
          </p:cNvPr>
          <p:cNvSpPr txBox="1"/>
          <p:nvPr/>
        </p:nvSpPr>
        <p:spPr>
          <a:xfrm>
            <a:off x="5577840" y="2925723"/>
            <a:ext cx="4836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Web Scraping + Data Cleaning &amp; EDA using Python + Power BI + </a:t>
            </a:r>
            <a:r>
              <a:rPr lang="en-US" sz="2000" b="1" dirty="0" err="1">
                <a:solidFill>
                  <a:schemeClr val="bg1"/>
                </a:solidFill>
              </a:rPr>
              <a:t>Sql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0AB53C-7968-4512-D7DD-EB390E18A75C}"/>
              </a:ext>
            </a:extLst>
          </p:cNvPr>
          <p:cNvSpPr txBox="1"/>
          <p:nvPr/>
        </p:nvSpPr>
        <p:spPr>
          <a:xfrm>
            <a:off x="5577840" y="3911600"/>
            <a:ext cx="619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Name:- Vikas Prajapati</a:t>
            </a:r>
          </a:p>
        </p:txBody>
      </p:sp>
      <p:pic>
        <p:nvPicPr>
          <p:cNvPr id="13" name="Graphic 12" descr="Stack of books with pear">
            <a:extLst>
              <a:ext uri="{FF2B5EF4-FFF2-40B4-BE49-F238E27FC236}">
                <a16:creationId xmlns:a16="http://schemas.microsoft.com/office/drawing/2014/main" id="{F70D8FFD-1FB7-73B0-D733-203F816B29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5323840" cy="573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86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88BB7-7483-A298-9F23-276CE866F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 descr="Graph and note paper pads with pencil">
            <a:extLst>
              <a:ext uri="{FF2B5EF4-FFF2-40B4-BE49-F238E27FC236}">
                <a16:creationId xmlns:a16="http://schemas.microsoft.com/office/drawing/2014/main" id="{175E8E57-AADB-99D3-394B-EF9EE36D2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8B6595-4BB8-3828-6E02-7311CCE6A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85"/>
            <a:ext cx="12192000" cy="68592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989EBA-C8D2-2496-A5BD-A6E99CBCA6B9}"/>
              </a:ext>
            </a:extLst>
          </p:cNvPr>
          <p:cNvSpPr txBox="1"/>
          <p:nvPr/>
        </p:nvSpPr>
        <p:spPr>
          <a:xfrm>
            <a:off x="0" y="2322711"/>
            <a:ext cx="7848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•  Analyze book dataset to understand pricing, ratings,  and category trends .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•  Identify patterns between price and rating. 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•  Find which categories perform best.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DB539-D194-BEB7-41F7-D2A1F633C460}"/>
              </a:ext>
            </a:extLst>
          </p:cNvPr>
          <p:cNvSpPr txBox="1"/>
          <p:nvPr/>
        </p:nvSpPr>
        <p:spPr>
          <a:xfrm>
            <a:off x="1281797" y="940158"/>
            <a:ext cx="48142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Problem Statement </a:t>
            </a:r>
            <a:endParaRPr lang="en-IN" sz="4400" b="1" dirty="0">
              <a:solidFill>
                <a:schemeClr val="bg1"/>
              </a:solidFill>
            </a:endParaRPr>
          </a:p>
        </p:txBody>
      </p:sp>
      <p:pic>
        <p:nvPicPr>
          <p:cNvPr id="11" name="Graphic 10" descr="Graph and note paper pads with pencil">
            <a:extLst>
              <a:ext uri="{FF2B5EF4-FFF2-40B4-BE49-F238E27FC236}">
                <a16:creationId xmlns:a16="http://schemas.microsoft.com/office/drawing/2014/main" id="{C2D8A9A6-E84C-C598-1430-4C1A19E8E8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2960" y="1148080"/>
            <a:ext cx="4921806" cy="511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076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48D2D-9F28-25EF-8563-24DDBD95A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 descr="An open book">
            <a:extLst>
              <a:ext uri="{FF2B5EF4-FFF2-40B4-BE49-F238E27FC236}">
                <a16:creationId xmlns:a16="http://schemas.microsoft.com/office/drawing/2014/main" id="{C018B460-FE99-9AC2-17A8-BABED83821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3014C1-F9A9-DEFD-4150-377606E4C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09"/>
            <a:ext cx="12192000" cy="68592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D29A8A-CBA4-9AF3-5B44-9A3D75E17C1D}"/>
              </a:ext>
            </a:extLst>
          </p:cNvPr>
          <p:cNvSpPr txBox="1"/>
          <p:nvPr/>
        </p:nvSpPr>
        <p:spPr>
          <a:xfrm>
            <a:off x="337457" y="460019"/>
            <a:ext cx="46590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</a:rPr>
              <a:t>Dataset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D64ABC-DD1B-146C-D6BB-3C0E27EB3445}"/>
              </a:ext>
            </a:extLst>
          </p:cNvPr>
          <p:cNvSpPr txBox="1"/>
          <p:nvPr/>
        </p:nvSpPr>
        <p:spPr>
          <a:xfrm>
            <a:off x="0" y="1690688"/>
            <a:ext cx="59436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• Total Records: ~1000 books.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Columns: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• Title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• Category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• Price (€)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• Rating</a:t>
            </a:r>
          </a:p>
          <a:p>
            <a:endParaRPr lang="en-IN" dirty="0"/>
          </a:p>
        </p:txBody>
      </p:sp>
      <p:pic>
        <p:nvPicPr>
          <p:cNvPr id="10" name="Graphic 9" descr="An open book">
            <a:extLst>
              <a:ext uri="{FF2B5EF4-FFF2-40B4-BE49-F238E27FC236}">
                <a16:creationId xmlns:a16="http://schemas.microsoft.com/office/drawing/2014/main" id="{08677EAC-3C6C-0152-9031-D58F442012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0640" y="1201242"/>
            <a:ext cx="6082234" cy="565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70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09DEB-97A8-B63A-708F-58A11747D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 descr="A mug filled with office supplies">
            <a:extLst>
              <a:ext uri="{FF2B5EF4-FFF2-40B4-BE49-F238E27FC236}">
                <a16:creationId xmlns:a16="http://schemas.microsoft.com/office/drawing/2014/main" id="{CE6A3B6B-75E4-C64D-0578-8B95DEB08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62011" y="1373436"/>
            <a:ext cx="4351338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3F66F7-9549-A246-F6B7-5653A169D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10"/>
            <a:ext cx="12192000" cy="68592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251489-7D61-C987-AA5D-92F6336E14A3}"/>
              </a:ext>
            </a:extLst>
          </p:cNvPr>
          <p:cNvSpPr txBox="1"/>
          <p:nvPr/>
        </p:nvSpPr>
        <p:spPr>
          <a:xfrm>
            <a:off x="0" y="2057023"/>
            <a:ext cx="731238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• Python (Data Cleaning + Web Scraping).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• SQL (Insights). 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• Power BI (Dashboard).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B199C7-AE11-E00E-FB3D-489570A2043C}"/>
              </a:ext>
            </a:extLst>
          </p:cNvPr>
          <p:cNvSpPr txBox="1"/>
          <p:nvPr/>
        </p:nvSpPr>
        <p:spPr>
          <a:xfrm>
            <a:off x="1264921" y="873760"/>
            <a:ext cx="32112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Tools Used</a:t>
            </a:r>
            <a:endParaRPr lang="en-IN" sz="4400" b="1" dirty="0">
              <a:solidFill>
                <a:schemeClr val="bg1"/>
              </a:solidFill>
            </a:endParaRPr>
          </a:p>
        </p:txBody>
      </p:sp>
      <p:pic>
        <p:nvPicPr>
          <p:cNvPr id="10" name="Graphic 9" descr="A mug filled with office supplies">
            <a:extLst>
              <a:ext uri="{FF2B5EF4-FFF2-40B4-BE49-F238E27FC236}">
                <a16:creationId xmlns:a16="http://schemas.microsoft.com/office/drawing/2014/main" id="{A57BAA25-657D-8310-A2F6-B28618FEF0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52116" y="873760"/>
            <a:ext cx="6048444" cy="604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376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EBAF-0C99-A1ED-BE16-223A5518B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Content Placeholder 7" descr="Laptop with phone and calculator">
            <a:extLst>
              <a:ext uri="{FF2B5EF4-FFF2-40B4-BE49-F238E27FC236}">
                <a16:creationId xmlns:a16="http://schemas.microsoft.com/office/drawing/2014/main" id="{43435824-E031-6BCA-6822-8EBD560C3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7B9369-F002-C7AB-167C-9B3FDD0CB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10"/>
            <a:ext cx="12192000" cy="68592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60D1F1-4E00-407B-9CC4-765A76BC6501}"/>
              </a:ext>
            </a:extLst>
          </p:cNvPr>
          <p:cNvSpPr txBox="1"/>
          <p:nvPr/>
        </p:nvSpPr>
        <p:spPr>
          <a:xfrm>
            <a:off x="0" y="2057023"/>
            <a:ext cx="68362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• Removed missing values.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• Fixed data types. 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• Removed duplicates.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• Standardized category names.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1D6A43-0FDD-DCD2-0A37-04EAF78F2657}"/>
              </a:ext>
            </a:extLst>
          </p:cNvPr>
          <p:cNvSpPr txBox="1"/>
          <p:nvPr/>
        </p:nvSpPr>
        <p:spPr>
          <a:xfrm flipH="1">
            <a:off x="206829" y="650940"/>
            <a:ext cx="35378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Data Cleaning</a:t>
            </a:r>
            <a:endParaRPr lang="en-IN" sz="4400" b="1" dirty="0">
              <a:solidFill>
                <a:schemeClr val="bg1"/>
              </a:solidFill>
            </a:endParaRPr>
          </a:p>
        </p:txBody>
      </p:sp>
      <p:pic>
        <p:nvPicPr>
          <p:cNvPr id="10" name="Graphic 9" descr="Laptop with phone and calculator">
            <a:extLst>
              <a:ext uri="{FF2B5EF4-FFF2-40B4-BE49-F238E27FC236}">
                <a16:creationId xmlns:a16="http://schemas.microsoft.com/office/drawing/2014/main" id="{29B41CED-F07C-4BF1-55AF-CC29933D7E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67394" y="-9144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76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FF2EE-667D-E4E1-58B9-E53DA15C7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 descr="A wreath with olives and leaves">
            <a:extLst>
              <a:ext uri="{FF2B5EF4-FFF2-40B4-BE49-F238E27FC236}">
                <a16:creationId xmlns:a16="http://schemas.microsoft.com/office/drawing/2014/main" id="{17F7E34E-9841-28A8-C395-3CBBA8B6F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47DCDF-9AE9-D35B-88D4-074391C39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09"/>
            <a:ext cx="12192000" cy="68592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86149F-A281-D772-EA1A-0A075513B9BA}"/>
              </a:ext>
            </a:extLst>
          </p:cNvPr>
          <p:cNvSpPr txBox="1"/>
          <p:nvPr/>
        </p:nvSpPr>
        <p:spPr>
          <a:xfrm>
            <a:off x="0" y="681037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bg1"/>
                </a:solidFill>
              </a:rPr>
              <a:t>Key KPIs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EE4888-75F9-2028-3342-B2B103B4C664}"/>
              </a:ext>
            </a:extLst>
          </p:cNvPr>
          <p:cNvSpPr txBox="1"/>
          <p:nvPr/>
        </p:nvSpPr>
        <p:spPr>
          <a:xfrm>
            <a:off x="113903" y="2632442"/>
            <a:ext cx="6197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• Avg Price 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E437D8-FE90-1A85-B139-5DE966559919}"/>
              </a:ext>
            </a:extLst>
          </p:cNvPr>
          <p:cNvSpPr txBox="1"/>
          <p:nvPr/>
        </p:nvSpPr>
        <p:spPr>
          <a:xfrm>
            <a:off x="617695" y="3748116"/>
            <a:ext cx="20232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€35.1</a:t>
            </a:r>
            <a:endParaRPr lang="en-IN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285948-BE30-BDE1-5C1D-8A51AA5B4789}"/>
              </a:ext>
            </a:extLst>
          </p:cNvPr>
          <p:cNvSpPr txBox="1"/>
          <p:nvPr/>
        </p:nvSpPr>
        <p:spPr>
          <a:xfrm>
            <a:off x="4682795" y="2541957"/>
            <a:ext cx="6197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• Avg Rating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B1DA84-3FE7-35D4-CF25-2CDD95874DC3}"/>
              </a:ext>
            </a:extLst>
          </p:cNvPr>
          <p:cNvSpPr txBox="1"/>
          <p:nvPr/>
        </p:nvSpPr>
        <p:spPr>
          <a:xfrm>
            <a:off x="5104356" y="3748117"/>
            <a:ext cx="1595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 2.92 </a:t>
            </a:r>
            <a:endParaRPr lang="en-IN" sz="3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66D1D7-90B5-A508-D2A1-7461E4D4C425}"/>
              </a:ext>
            </a:extLst>
          </p:cNvPr>
          <p:cNvSpPr txBox="1"/>
          <p:nvPr/>
        </p:nvSpPr>
        <p:spPr>
          <a:xfrm>
            <a:off x="8857059" y="2551384"/>
            <a:ext cx="3937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• Total Books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781634-F3D8-7C7C-FE60-13A005853A8C}"/>
              </a:ext>
            </a:extLst>
          </p:cNvPr>
          <p:cNvSpPr txBox="1"/>
          <p:nvPr/>
        </p:nvSpPr>
        <p:spPr>
          <a:xfrm>
            <a:off x="9551036" y="3787857"/>
            <a:ext cx="17425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1,024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247437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DD816-0E44-AE7B-0B4B-8D47E40FB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8F37383-0052-54E8-4EAD-1E4D93CF8F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4356"/>
            <a:ext cx="12083143" cy="53036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703DE9-7444-9AF8-DA9E-1E99AE59B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210"/>
            <a:ext cx="12192000" cy="68592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E10A67-5221-E761-A6E1-FDBAB8346BAC}"/>
              </a:ext>
            </a:extLst>
          </p:cNvPr>
          <p:cNvSpPr txBox="1"/>
          <p:nvPr/>
        </p:nvSpPr>
        <p:spPr>
          <a:xfrm>
            <a:off x="0" y="869511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• </a:t>
            </a:r>
            <a:r>
              <a:rPr lang="en-US" sz="3200" dirty="0">
                <a:solidFill>
                  <a:schemeClr val="bg1"/>
                </a:solidFill>
              </a:rPr>
              <a:t>Interactive dashboard to explore pricing, ratings, and categories.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7BC11-2C64-C5C5-10B1-CFFC0AE25F52}"/>
              </a:ext>
            </a:extLst>
          </p:cNvPr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Dashboard Overview</a:t>
            </a:r>
            <a:endParaRPr lang="en-IN" sz="44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98F8D0-B6C8-2D49-F07B-949E10E287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1454285"/>
            <a:ext cx="11104061" cy="540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74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DDAB-E11E-C375-B402-171F24A14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F5405-3C9C-082E-116E-4197760DE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D4BB6A-4DDF-AB8D-B3AF-C81301D9A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663"/>
            <a:ext cx="12192000" cy="68592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0CD725-43A0-41B6-B55A-F979EED930CB}"/>
              </a:ext>
            </a:extLst>
          </p:cNvPr>
          <p:cNvSpPr txBox="1"/>
          <p:nvPr/>
        </p:nvSpPr>
        <p:spPr>
          <a:xfrm>
            <a:off x="0" y="2057023"/>
            <a:ext cx="6888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• Most books are clustered around rating 2.5 – 3.5. 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• No strong relationship between price and rating.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33229-7F5F-AF5F-6A53-E5E7EE24457F}"/>
              </a:ext>
            </a:extLst>
          </p:cNvPr>
          <p:cNvSpPr txBox="1"/>
          <p:nvPr/>
        </p:nvSpPr>
        <p:spPr>
          <a:xfrm>
            <a:off x="0" y="4826118"/>
            <a:ext cx="6979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•  </a:t>
            </a:r>
            <a:r>
              <a:rPr lang="en-US" sz="2400" dirty="0">
                <a:solidFill>
                  <a:schemeClr val="bg1"/>
                </a:solidFill>
              </a:rPr>
              <a:t>Categories like </a:t>
            </a:r>
            <a:r>
              <a:rPr lang="en-US" sz="2400" b="1" dirty="0">
                <a:solidFill>
                  <a:schemeClr val="bg1"/>
                </a:solidFill>
              </a:rPr>
              <a:t>Novels &amp; Erotica</a:t>
            </a:r>
            <a:r>
              <a:rPr lang="en-US" sz="2400" dirty="0">
                <a:solidFill>
                  <a:schemeClr val="bg1"/>
                </a:solidFill>
              </a:rPr>
              <a:t> have higher ratings.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• Health category</a:t>
            </a:r>
            <a:r>
              <a:rPr lang="en-US" sz="2400" dirty="0">
                <a:solidFill>
                  <a:schemeClr val="bg1"/>
                </a:solidFill>
              </a:rPr>
              <a:t> has lower ratings.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CB5900-116D-4C6A-9CAD-775ADAF0D873}"/>
              </a:ext>
            </a:extLst>
          </p:cNvPr>
          <p:cNvSpPr txBox="1"/>
          <p:nvPr/>
        </p:nvSpPr>
        <p:spPr>
          <a:xfrm>
            <a:off x="3314700" y="1050271"/>
            <a:ext cx="6197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From scatter plot</a:t>
            </a:r>
            <a:r>
              <a:rPr lang="en-IN" sz="400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D245EC-C6DE-6CB8-6B7A-3EF8394EAFA0}"/>
              </a:ext>
            </a:extLst>
          </p:cNvPr>
          <p:cNvSpPr txBox="1"/>
          <p:nvPr/>
        </p:nvSpPr>
        <p:spPr>
          <a:xfrm>
            <a:off x="3304540" y="3696821"/>
            <a:ext cx="6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From category rating chart: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E2E4AD-D2CF-A187-F7B0-45108CBA62E9}"/>
              </a:ext>
            </a:extLst>
          </p:cNvPr>
          <p:cNvSpPr txBox="1"/>
          <p:nvPr/>
        </p:nvSpPr>
        <p:spPr>
          <a:xfrm>
            <a:off x="0" y="-32736"/>
            <a:ext cx="12161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Insight’s </a:t>
            </a:r>
            <a:endParaRPr lang="en-IN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822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E36F-5C37-99A6-1D5F-724ED7B9A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1A158-D092-9A6C-AD6D-B94A71012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7BE573-EAD3-4C2B-D20D-D4F35451B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92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A46807-1A47-B64F-C3FF-458B62D9ABC7}"/>
              </a:ext>
            </a:extLst>
          </p:cNvPr>
          <p:cNvSpPr txBox="1"/>
          <p:nvPr/>
        </p:nvSpPr>
        <p:spPr>
          <a:xfrm>
            <a:off x="4749896" y="3403412"/>
            <a:ext cx="33426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• </a:t>
            </a:r>
            <a:r>
              <a:rPr lang="en-US" sz="2400" dirty="0">
                <a:solidFill>
                  <a:schemeClr val="bg1"/>
                </a:solidFill>
              </a:rPr>
              <a:t>Fiction category dominates.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• </a:t>
            </a:r>
            <a:r>
              <a:rPr lang="en-US" sz="2400" dirty="0">
                <a:solidFill>
                  <a:schemeClr val="bg1"/>
                </a:solidFill>
              </a:rPr>
              <a:t>Some categories have very few books.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D023B6-271C-72BD-6BE1-CD0BFBA62C1E}"/>
              </a:ext>
            </a:extLst>
          </p:cNvPr>
          <p:cNvSpPr txBox="1"/>
          <p:nvPr/>
        </p:nvSpPr>
        <p:spPr>
          <a:xfrm>
            <a:off x="180196" y="3377040"/>
            <a:ext cx="42139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• Some categories have higher average prices. 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• Pricing varies significantly across categories.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5ABA7D-71A9-8761-9304-7799906C51E4}"/>
              </a:ext>
            </a:extLst>
          </p:cNvPr>
          <p:cNvSpPr txBox="1"/>
          <p:nvPr/>
        </p:nvSpPr>
        <p:spPr>
          <a:xfrm>
            <a:off x="8448280" y="3335944"/>
            <a:ext cx="36372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• Rating distribution is fairly balanced.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• No extreme dominance of a single rating.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940C41-3CF8-FECC-6BA2-7EA86F812817}"/>
              </a:ext>
            </a:extLst>
          </p:cNvPr>
          <p:cNvSpPr txBox="1"/>
          <p:nvPr/>
        </p:nvSpPr>
        <p:spPr>
          <a:xfrm>
            <a:off x="8438120" y="2013951"/>
            <a:ext cx="3657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From donut chart</a:t>
            </a:r>
            <a:endParaRPr lang="en-IN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4C545-F925-E35E-2F97-3A744CDFFB5D}"/>
              </a:ext>
            </a:extLst>
          </p:cNvPr>
          <p:cNvSpPr txBox="1"/>
          <p:nvPr/>
        </p:nvSpPr>
        <p:spPr>
          <a:xfrm>
            <a:off x="4638160" y="2013951"/>
            <a:ext cx="3657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From “No of Books by Category” </a:t>
            </a:r>
            <a:endParaRPr lang="en-IN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420812-6B07-CCEE-DD01-15C635B30124}"/>
              </a:ext>
            </a:extLst>
          </p:cNvPr>
          <p:cNvSpPr txBox="1"/>
          <p:nvPr/>
        </p:nvSpPr>
        <p:spPr>
          <a:xfrm>
            <a:off x="460684" y="2013950"/>
            <a:ext cx="34399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</a:rPr>
              <a:t>From bar chart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56AE23-ACCA-EF02-2337-815399AE02C2}"/>
              </a:ext>
            </a:extLst>
          </p:cNvPr>
          <p:cNvSpPr txBox="1"/>
          <p:nvPr/>
        </p:nvSpPr>
        <p:spPr>
          <a:xfrm>
            <a:off x="-96340" y="42967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Insights</a:t>
            </a:r>
            <a:endParaRPr lang="en-IN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526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2CF5E-D5B0-F600-DFFF-BE576A48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52A63-69A2-116B-170C-AEF54973C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F67A30-2237-412A-38FF-CF17AC569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10"/>
            <a:ext cx="12192000" cy="68592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F1D51E-42F3-10D0-CA01-F3F2F8E07179}"/>
              </a:ext>
            </a:extLst>
          </p:cNvPr>
          <p:cNvSpPr txBox="1"/>
          <p:nvPr/>
        </p:nvSpPr>
        <p:spPr>
          <a:xfrm>
            <a:off x="71120" y="2057023"/>
            <a:ext cx="9804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• Price does not strongly impact rating. </a:t>
            </a:r>
          </a:p>
          <a:p>
            <a:endParaRPr lang="en-US" sz="3600" b="1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• Certain categories perform better in ratings.</a:t>
            </a:r>
          </a:p>
          <a:p>
            <a:endParaRPr lang="en-US" sz="3600" b="1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• Book distribution is uneven across categories.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6F78F-D234-8138-3756-84E8EDB54CE7}"/>
              </a:ext>
            </a:extLst>
          </p:cNvPr>
          <p:cNvSpPr txBox="1"/>
          <p:nvPr/>
        </p:nvSpPr>
        <p:spPr>
          <a:xfrm>
            <a:off x="0" y="488296"/>
            <a:ext cx="12120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Conclusions</a:t>
            </a:r>
            <a:endParaRPr lang="en-IN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970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286</Words>
  <Application>Microsoft Office PowerPoint</Application>
  <PresentationFormat>Widescreen</PresentationFormat>
  <Paragraphs>69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prajapati</dc:creator>
  <cp:lastModifiedBy>vishal prajapati</cp:lastModifiedBy>
  <cp:revision>1</cp:revision>
  <dcterms:created xsi:type="dcterms:W3CDTF">2026-05-02T04:12:33Z</dcterms:created>
  <dcterms:modified xsi:type="dcterms:W3CDTF">2026-05-02T05:40:52Z</dcterms:modified>
</cp:coreProperties>
</file>